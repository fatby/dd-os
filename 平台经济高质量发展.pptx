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平台经济高质量发展</a:t>
            </a:r>
          </a:p>
          <a:p>
            <a:r>
              <a:t>路径与对策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数字经济时代下的新引擎</a:t>
            </a:r>
          </a:p>
          <a:p>
            <a:r>
              <a:t>2026年02月20日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/>
            </a:pPr>
            <a:r>
              <a:t>一、平台经济的内涵与特征</a:t>
            </a:r>
          </a:p>
          <a:p>
            <a:pPr>
              <a:spcAft>
                <a:spcPts val="1200"/>
              </a:spcAft>
              <a:defRPr sz="2400" b="1"/>
            </a:pPr>
            <a:r>
              <a:t>二、平台经济发展现状与趋势</a:t>
            </a:r>
          </a:p>
          <a:p>
            <a:pPr>
              <a:spcAft>
                <a:spcPts val="1200"/>
              </a:spcAft>
              <a:defRPr sz="2400" b="1"/>
            </a:pPr>
            <a:r>
              <a:t>三、平台经济发展面临的挑战</a:t>
            </a:r>
          </a:p>
          <a:p>
            <a:pPr>
              <a:spcAft>
                <a:spcPts val="1200"/>
              </a:spcAft>
              <a:defRPr sz="2400" b="1"/>
            </a:pPr>
            <a:r>
              <a:t>四、平台经济高质量发展对策</a:t>
            </a:r>
          </a:p>
          <a:p>
            <a:pPr>
              <a:spcAft>
                <a:spcPts val="1200"/>
              </a:spcAft>
              <a:defRPr sz="2400" b="1"/>
            </a:pPr>
            <a:r>
              <a:t>五、未来发展方向与展望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一、平台经济的内涵与特征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📊 内涵定义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平台经济是以互联网平台为主要载体</a:t>
            </a:r>
          </a:p>
          <a:p>
            <a:pPr lvl="1">
              <a:spcBef>
                <a:spcPts val="300"/>
              </a:spcBef>
              <a:defRPr sz="1800"/>
            </a:pPr>
            <a:r>
              <a:t>• 以数据为关键生产要素</a:t>
            </a:r>
          </a:p>
          <a:p>
            <a:pPr lvl="1">
              <a:spcBef>
                <a:spcPts val="300"/>
              </a:spcBef>
              <a:defRPr sz="1800"/>
            </a:pPr>
            <a:r>
              <a:t>• 以新一代信息技术为核心驱动力</a:t>
            </a:r>
          </a:p>
          <a:p>
            <a:pPr lvl="1">
              <a:spcBef>
                <a:spcPts val="300"/>
              </a:spcBef>
              <a:defRPr sz="1800"/>
            </a:pPr>
            <a:r>
              <a:t>• 以网络信息基础设施为重要支撑的新型经济形态</a:t>
            </a:r>
          </a:p>
          <a:p>
            <a:pPr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🎯 基本特征</a:t>
            </a:r>
          </a:p>
          <a:p>
            <a:pPr lvl="1">
              <a:spcBef>
                <a:spcPts val="300"/>
              </a:spcBef>
              <a:defRPr sz="1800"/>
            </a:pPr>
            <a:r>
              <a:t>• 虚拟性：摆脱时间与空间约束</a:t>
            </a:r>
          </a:p>
          <a:p>
            <a:pPr lvl="1">
              <a:spcBef>
                <a:spcPts val="300"/>
              </a:spcBef>
              <a:defRPr sz="1800"/>
            </a:pPr>
            <a:r>
              <a:t>• 网络外部性：用户越多，价值越大</a:t>
            </a:r>
          </a:p>
          <a:p>
            <a:pPr lvl="1">
              <a:spcBef>
                <a:spcPts val="300"/>
              </a:spcBef>
              <a:defRPr sz="1800"/>
            </a:pPr>
            <a:r>
              <a:t>• 多元归属性：用户可以参与多个平台</a:t>
            </a:r>
          </a:p>
          <a:p>
            <a:pPr lvl="1">
              <a:spcBef>
                <a:spcPts val="300"/>
              </a:spcBef>
              <a:defRPr sz="1800"/>
            </a:pPr>
            <a:r>
              <a:t>• 创新协同性：数实融合的重要桥梁</a:t>
            </a:r>
          </a:p>
          <a:p>
            <a:pPr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🏢 四个层面</a:t>
            </a:r>
          </a:p>
          <a:p>
            <a:pPr lvl="1">
              <a:spcBef>
                <a:spcPts val="300"/>
              </a:spcBef>
              <a:defRPr sz="1800"/>
            </a:pPr>
            <a:r>
              <a:t>• 数字平台：引擎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平台企业：主体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平台生态：载体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平台经济：整体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二、平台经济发展现状与趋势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📈 发展历程</a:t>
            </a:r>
          </a:p>
          <a:p>
            <a:pPr lvl="1">
              <a:spcBef>
                <a:spcPts val="300"/>
              </a:spcBef>
              <a:defRPr sz="1800"/>
            </a:pPr>
            <a:r>
              <a:t>• 2015年：国外文献出现平台经济概念</a:t>
            </a:r>
          </a:p>
          <a:p>
            <a:pPr lvl="1">
              <a:spcBef>
                <a:spcPts val="300"/>
              </a:spcBef>
              <a:defRPr sz="1800"/>
            </a:pPr>
            <a:r>
              <a:t>• 2018年：首次写入《政府工作报告》</a:t>
            </a:r>
          </a:p>
          <a:p>
            <a:pPr lvl="1">
              <a:spcBef>
                <a:spcPts val="300"/>
              </a:spcBef>
              <a:defRPr sz="1800"/>
            </a:pPr>
            <a:r>
              <a:t>• 2021年：《关于推动平台经济规范健康持续发展的若干意见》发布</a:t>
            </a:r>
          </a:p>
          <a:p>
            <a:pPr lvl="1">
              <a:spcBef>
                <a:spcPts val="300"/>
              </a:spcBef>
              <a:defRPr sz="1800"/>
            </a:pPr>
            <a:r>
              <a:t>• 2023年：中央经济工作会议强调促进平台经济发展</a:t>
            </a:r>
          </a:p>
          <a:p>
            <a:pPr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🎪 主要业态</a:t>
            </a:r>
          </a:p>
          <a:p>
            <a:pPr lvl="1">
              <a:spcBef>
                <a:spcPts val="300"/>
              </a:spcBef>
              <a:defRPr sz="1800"/>
            </a:pPr>
            <a:r>
              <a:t>• 网络销售：电商平台</a:t>
            </a:r>
          </a:p>
          <a:p>
            <a:pPr lvl="1">
              <a:spcBef>
                <a:spcPts val="300"/>
              </a:spcBef>
              <a:defRPr sz="1800"/>
            </a:pPr>
            <a:r>
              <a:t>• 生活服务：外卖、出行</a:t>
            </a:r>
          </a:p>
          <a:p>
            <a:pPr lvl="1">
              <a:spcBef>
                <a:spcPts val="300"/>
              </a:spcBef>
              <a:defRPr sz="1800"/>
            </a:pPr>
            <a:r>
              <a:t>• 社交娱乐：社交媒体、短视频</a:t>
            </a:r>
          </a:p>
          <a:p>
            <a:pPr lvl="1">
              <a:spcBef>
                <a:spcPts val="300"/>
              </a:spcBef>
              <a:defRPr sz="1800"/>
            </a:pPr>
            <a:r>
              <a:t>• 信息服务：资讯、搜索</a:t>
            </a:r>
          </a:p>
          <a:p>
            <a:pPr lvl="1">
              <a:spcBef>
                <a:spcPts val="300"/>
              </a:spcBef>
              <a:defRPr sz="1800"/>
            </a:pPr>
            <a:r>
              <a:t>• 金融服务：移动支付、金融科技</a:t>
            </a:r>
          </a:p>
          <a:p>
            <a:pPr lvl="1">
              <a:spcBef>
                <a:spcPts val="300"/>
              </a:spcBef>
              <a:defRPr sz="1800"/>
            </a:pPr>
            <a:r>
              <a:t>• 产业平台：工业互联网</a:t>
            </a:r>
          </a:p>
          <a:p>
            <a:pPr>
              <a:spcAft>
                <a:spcPts val="600"/>
              </a:spcAft>
              <a:defRPr sz="2000" b="1">
                <a:solidFill>
                  <a:srgbClr val="0066CC"/>
                </a:solidFill>
              </a:defRPr>
            </a:pPr>
            <a:r>
              <a:t>🚀 发展趋势</a:t>
            </a:r>
          </a:p>
          <a:p>
            <a:pPr lvl="1">
              <a:spcBef>
                <a:spcPts val="300"/>
              </a:spcBef>
              <a:defRPr sz="1800"/>
            </a:pPr>
            <a:r>
              <a:t>• 从消费互联网向产业互联网过渡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平台规模扩张走向生态化</a:t>
            </a:r>
          </a:p>
          <a:p>
            <a:pPr lvl="1">
              <a:spcBef>
                <a:spcPts val="300"/>
              </a:spcBef>
              <a:defRPr sz="1800"/>
            </a:pPr>
            <a:r>
              <a:t>• 中小企业数字化转型成为重要场景</a:t>
            </a:r>
          </a:p>
          <a:p>
            <a:pPr lvl="1">
              <a:spcBef>
                <a:spcPts val="300"/>
              </a:spcBef>
              <a:defRPr sz="1800"/>
            </a:pPr>
            <a:r>
              <a:t>• 与产业链供应链深度融合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三、平台经济发展面临的挑战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2000" b="1">
                <a:solidFill>
                  <a:srgbClr val="CC0000"/>
                </a:solidFill>
              </a:defRPr>
            </a:pPr>
            <a:r>
              <a:t>⚖️ 监管挑战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平台规则不完善，治理手段存在漏洞</a:t>
            </a:r>
          </a:p>
          <a:p>
            <a:pPr lvl="1">
              <a:spcBef>
                <a:spcPts val="300"/>
              </a:spcBef>
              <a:defRPr sz="1800"/>
            </a:pPr>
            <a:r>
              <a:t>• 监管滞后于技术创新速度</a:t>
            </a:r>
          </a:p>
          <a:p>
            <a:pPr lvl="1">
              <a:spcBef>
                <a:spcPts val="300"/>
              </a:spcBef>
              <a:defRPr sz="1800"/>
            </a:pPr>
            <a:r>
              <a:t>• 数据安全与隐私保护问题</a:t>
            </a:r>
          </a:p>
          <a:p>
            <a:pPr>
              <a:spcAft>
                <a:spcPts val="600"/>
              </a:spcAft>
              <a:defRPr sz="2000" b="1">
                <a:solidFill>
                  <a:srgbClr val="CC0000"/>
                </a:solidFill>
              </a:defRPr>
            </a:pPr>
            <a:r>
              <a:t>💰 市场挑战</a:t>
            </a:r>
          </a:p>
          <a:p>
            <a:pPr lvl="1">
              <a:spcBef>
                <a:spcPts val="300"/>
              </a:spcBef>
              <a:defRPr sz="1800"/>
            </a:pPr>
            <a:r>
              <a:t>• 流量至上模式导致的恶性竞争</a:t>
            </a:r>
          </a:p>
          <a:p>
            <a:pPr lvl="1">
              <a:spcBef>
                <a:spcPts val="300"/>
              </a:spcBef>
              <a:defRPr sz="1800"/>
            </a:pPr>
            <a:r>
              <a:t>• 大数据杀熟、算法歧视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平台垄断与市场支配地位滥用</a:t>
            </a:r>
          </a:p>
          <a:p>
            <a:pPr>
              <a:spcAft>
                <a:spcPts val="600"/>
              </a:spcAft>
              <a:defRPr sz="2000" b="1">
                <a:solidFill>
                  <a:srgbClr val="CC0000"/>
                </a:solidFill>
              </a:defRPr>
            </a:pPr>
            <a:r>
              <a:t>🛒 运营挑战</a:t>
            </a:r>
          </a:p>
          <a:p>
            <a:pPr lvl="1">
              <a:spcBef>
                <a:spcPts val="300"/>
              </a:spcBef>
              <a:defRPr sz="1800"/>
            </a:pPr>
            <a:r>
              <a:t>• 刷单炒信、销售侵权商品</a:t>
            </a:r>
          </a:p>
          <a:p>
            <a:pPr lvl="1">
              <a:spcBef>
                <a:spcPts val="300"/>
              </a:spcBef>
              <a:defRPr sz="1800"/>
            </a:pPr>
            <a:r>
              <a:t>• 低价竞争导致品质下降</a:t>
            </a:r>
          </a:p>
          <a:p>
            <a:pPr lvl="1">
              <a:spcBef>
                <a:spcPts val="300"/>
              </a:spcBef>
              <a:defRPr sz="1800"/>
            </a:pPr>
            <a:r>
              <a:t>• 退货率上升影响消费体验</a:t>
            </a:r>
          </a:p>
          <a:p>
            <a:pPr>
              <a:spcAft>
                <a:spcPts val="600"/>
              </a:spcAft>
              <a:defRPr sz="2000" b="1">
                <a:solidFill>
                  <a:srgbClr val="CC0000"/>
                </a:solidFill>
              </a:defRPr>
            </a:pPr>
            <a:r>
              <a:t>🌐 发展挑战</a:t>
            </a:r>
          </a:p>
          <a:p>
            <a:pPr lvl="1">
              <a:spcBef>
                <a:spcPts val="300"/>
              </a:spcBef>
              <a:defRPr sz="1800"/>
            </a:pPr>
            <a:r>
              <a:t>• 增量市场开拓难度加大</a:t>
            </a:r>
          </a:p>
          <a:p>
            <a:pPr lvl="1">
              <a:spcBef>
                <a:spcPts val="300"/>
              </a:spcBef>
              <a:defRPr sz="1800"/>
            </a:pPr>
            <a:r>
              <a:t>• 国际竞争加剧</a:t>
            </a:r>
          </a:p>
          <a:p>
            <a:pPr lvl="1">
              <a:spcBef>
                <a:spcPts val="300"/>
              </a:spcBef>
              <a:defRPr sz="1800"/>
            </a:pPr>
            <a:r>
              <a:t>• 技术自主创新能力不足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四、平台经济高质量发展对策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2000" b="1">
                <a:solidFill>
                  <a:srgbClr val="00994C"/>
                </a:solidFill>
              </a:defRPr>
            </a:pPr>
            <a:r>
              <a:t>🏛️ 完善监管体系</a:t>
            </a:r>
          </a:p>
          <a:p>
            <a:pPr lvl="1">
              <a:spcBef>
                <a:spcPts val="300"/>
              </a:spcBef>
              <a:defRPr sz="1800"/>
            </a:pPr>
            <a:r>
              <a:t>• 建立常态化监管制度</a:t>
            </a:r>
          </a:p>
          <a:p>
            <a:pPr lvl="1">
              <a:spcBef>
                <a:spcPts val="300"/>
              </a:spcBef>
              <a:defRPr sz="1800"/>
            </a:pPr>
            <a:r>
              <a:t>• 制定差异化、精准化监管政策</a:t>
            </a:r>
          </a:p>
          <a:p>
            <a:pPr lvl="1">
              <a:spcBef>
                <a:spcPts val="300"/>
              </a:spcBef>
              <a:defRPr sz="1800"/>
            </a:pPr>
            <a:r>
              <a:t>• 加强数据安全与隐私保护立法</a:t>
            </a:r>
          </a:p>
          <a:p>
            <a:pPr>
              <a:spcAft>
                <a:spcPts val="600"/>
              </a:spcAft>
              <a:defRPr sz="2000" b="1">
                <a:solidFill>
                  <a:srgbClr val="00994C"/>
                </a:solidFill>
              </a:defRPr>
            </a:pPr>
            <a:r>
              <a:t>💡 鼓励技术创新</a:t>
            </a:r>
          </a:p>
          <a:p>
            <a:pPr lvl="1">
              <a:spcBef>
                <a:spcPts val="300"/>
              </a:spcBef>
              <a:defRPr sz="1800"/>
            </a:pPr>
            <a:r>
              <a:t>• 支持核心关键技术攻关</a:t>
            </a:r>
          </a:p>
          <a:p>
            <a:pPr lvl="1">
              <a:spcBef>
                <a:spcPts val="300"/>
              </a:spcBef>
              <a:defRPr sz="1800"/>
            </a:pPr>
            <a:r>
              <a:t>• 促进平台企业加大研发投入</a:t>
            </a:r>
          </a:p>
          <a:p>
            <a:pPr lvl="1">
              <a:spcBef>
                <a:spcPts val="300"/>
              </a:spcBef>
              <a:defRPr sz="1800"/>
            </a:pPr>
            <a:r>
              <a:t>• 建设开放创新的平台生态</a:t>
            </a:r>
          </a:p>
          <a:p>
            <a:pPr>
              <a:spcAft>
                <a:spcPts val="600"/>
              </a:spcAft>
              <a:defRPr sz="2000" b="1">
                <a:solidFill>
                  <a:srgbClr val="00994C"/>
                </a:solidFill>
              </a:defRPr>
            </a:pPr>
            <a:r>
              <a:t>🤝 促进数实融合</a:t>
            </a:r>
          </a:p>
          <a:p>
            <a:pPr lvl="1">
              <a:spcBef>
                <a:spcPts val="300"/>
              </a:spcBef>
              <a:defRPr sz="1800"/>
            </a:pPr>
            <a:r>
              <a:t>• 推动平台经济赋能传统产业</a:t>
            </a:r>
          </a:p>
          <a:p>
            <a:pPr lvl="1">
              <a:spcBef>
                <a:spcPts val="300"/>
              </a:spcBef>
              <a:defRPr sz="1800"/>
            </a:pPr>
            <a:r>
              <a:t>• 支持工业互联网平台发展</a:t>
            </a:r>
          </a:p>
          <a:p>
            <a:pPr lvl="1">
              <a:spcBef>
                <a:spcPts val="300"/>
              </a:spcBef>
              <a:defRPr sz="1800"/>
            </a:pPr>
            <a:r>
              <a:t>• 建设数字化转型促进中心</a:t>
            </a:r>
          </a:p>
          <a:p>
            <a:pPr>
              <a:spcAft>
                <a:spcPts val="600"/>
              </a:spcAft>
              <a:defRPr sz="2000" b="1">
                <a:solidFill>
                  <a:srgbClr val="00994C"/>
                </a:solidFill>
              </a:defRPr>
            </a:pPr>
            <a:r>
              <a:t>🌍 拓展国际市场</a:t>
            </a:r>
          </a:p>
          <a:p>
            <a:pPr lvl="1">
              <a:spcBef>
                <a:spcPts val="300"/>
              </a:spcBef>
              <a:defRPr sz="1800"/>
            </a:pPr>
            <a:r>
              <a:t>• 支持平台企业出海发展</a:t>
            </a:r>
          </a:p>
          <a:p>
            <a:pPr lvl="1">
              <a:spcBef>
                <a:spcPts val="300"/>
              </a:spcBef>
              <a:defRPr sz="1800"/>
            </a:pPr>
            <a:r>
              <a:t>• 加强跨境电商平台建设</a:t>
            </a:r>
          </a:p>
          <a:p>
            <a:pPr lvl="1">
              <a:spcBef>
                <a:spcPts val="300"/>
              </a:spcBef>
              <a:defRPr sz="1800"/>
            </a:pPr>
            <a:r>
              <a:t>• 参与国际规则制定</a:t>
            </a:r>
          </a:p>
          <a:p>
            <a:pPr>
              <a:spcAft>
                <a:spcPts val="600"/>
              </a:spcAft>
              <a:defRPr sz="2000" b="1">
                <a:solidFill>
                  <a:srgbClr val="00994C"/>
                </a:solidFill>
              </a:defRPr>
            </a:pPr>
            <a:r>
              <a:t>⚖️ 优化营商环境</a:t>
            </a:r>
          </a:p>
          <a:p>
            <a:pPr lvl="1">
              <a:spcBef>
                <a:spcPts val="300"/>
              </a:spcBef>
              <a:defRPr sz="1800"/>
            </a:pPr>
            <a:r>
              <a:t>• 保障平台各类主体合法权益</a:t>
            </a:r>
          </a:p>
          <a:p>
            <a:pPr lvl="1">
              <a:spcBef>
                <a:spcPts val="300"/>
              </a:spcBef>
              <a:defRPr sz="1800"/>
            </a:pPr>
            <a:r>
              <a:t>• 建立公平竞争的市场秩序</a:t>
            </a:r>
          </a:p>
          <a:p>
            <a:pPr lvl="1">
              <a:spcBef>
                <a:spcPts val="300"/>
              </a:spcBef>
              <a:defRPr sz="1800"/>
            </a:pPr>
            <a:r>
              <a:t>• 完善平台治理机制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五、未来发展方向与展望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2000" b="1">
                <a:solidFill>
                  <a:srgbClr val="6633CC"/>
                </a:solidFill>
              </a:defRPr>
            </a:pPr>
            <a:r>
              <a:t>🔮 技术驱动</a:t>
            </a:r>
          </a:p>
          <a:p>
            <a:pPr lvl="1">
              <a:spcBef>
                <a:spcPts val="300"/>
              </a:spcBef>
              <a:defRPr sz="1800"/>
            </a:pPr>
            <a:r>
              <a:t>• AI、区块链、物联网等新技术深度应用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平台智能化水平显著提升</a:t>
            </a:r>
          </a:p>
          <a:p>
            <a:pPr lvl="1">
              <a:spcBef>
                <a:spcPts val="300"/>
              </a:spcBef>
              <a:defRPr sz="1800"/>
            </a:pPr>
            <a:r>
              <a:t>• 新型数字基础设施建设加速</a:t>
            </a:r>
          </a:p>
          <a:p>
            <a:pPr>
              <a:spcAft>
                <a:spcPts val="600"/>
              </a:spcAft>
              <a:defRPr sz="2000" b="1">
                <a:solidFill>
                  <a:srgbClr val="6633CC"/>
                </a:solidFill>
              </a:defRPr>
            </a:pPr>
            <a:r>
              <a:t>🔄 模式创新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平台商业模式持续创新</a:t>
            </a:r>
          </a:p>
          <a:p>
            <a:pPr lvl="1">
              <a:spcBef>
                <a:spcPts val="300"/>
              </a:spcBef>
              <a:defRPr sz="1800"/>
            </a:pPr>
            <a:r>
              <a:t>• 共享经济、零工经济等新业态涌现</a:t>
            </a:r>
          </a:p>
          <a:p>
            <a:pPr lvl="1">
              <a:spcBef>
                <a:spcPts val="300"/>
              </a:spcBef>
              <a:defRPr sz="1800"/>
            </a:pPr>
            <a:r>
              <a:t>• 线上线下深度融合</a:t>
            </a:r>
          </a:p>
          <a:p>
            <a:pPr>
              <a:spcAft>
                <a:spcPts val="600"/>
              </a:spcAft>
              <a:defRPr sz="2000" b="1">
                <a:solidFill>
                  <a:srgbClr val="6633CC"/>
                </a:solidFill>
              </a:defRPr>
            </a:pPr>
            <a:r>
              <a:t>🌐 全球化发展</a:t>
            </a:r>
          </a:p>
          <a:p>
            <a:pPr lvl="1">
              <a:spcBef>
                <a:spcPts val="300"/>
              </a:spcBef>
              <a:defRPr sz="1800"/>
            </a:pPr>
            <a:r>
              <a:t>• 平台企业国际化步伐加快</a:t>
            </a:r>
          </a:p>
          <a:p>
            <a:pPr lvl="1">
              <a:spcBef>
                <a:spcPts val="300"/>
              </a:spcBef>
              <a:defRPr sz="1800"/>
            </a:pPr>
            <a:r>
              <a:t>• 数字贸易规则体系逐步完善</a:t>
            </a:r>
          </a:p>
          <a:p>
            <a:pPr lvl="1">
              <a:spcBef>
                <a:spcPts val="300"/>
              </a:spcBef>
              <a:defRPr sz="1800"/>
            </a:pPr>
            <a:r>
              <a:t>• 全球数字治理合作加强</a:t>
            </a:r>
          </a:p>
          <a:p>
            <a:pPr>
              <a:spcAft>
                <a:spcPts val="600"/>
              </a:spcAft>
              <a:defRPr sz="2000" b="1">
                <a:solidFill>
                  <a:srgbClr val="6633CC"/>
                </a:solidFill>
              </a:defRPr>
            </a:pPr>
            <a:r>
              <a:t>🎯 高质量发展</a:t>
            </a:r>
          </a:p>
          <a:p>
            <a:pPr lvl="1">
              <a:spcBef>
                <a:spcPts val="300"/>
              </a:spcBef>
              <a:defRPr sz="1800"/>
            </a:pPr>
            <a:r>
              <a:t>• 从规模扩张转向质量提升</a:t>
            </a:r>
          </a:p>
          <a:p>
            <a:pPr lvl="1">
              <a:spcBef>
                <a:spcPts val="300"/>
              </a:spcBef>
              <a:defRPr sz="1800"/>
            </a:pPr>
            <a:r>
              <a:t>• 更加注重社会责任与可持续发展</a:t>
            </a:r>
          </a:p>
          <a:p>
            <a:pPr lvl="1">
              <a:spcBef>
                <a:spcPts val="300"/>
              </a:spcBef>
              <a:defRPr sz="1800"/>
            </a:pPr>
            <a:r>
              <a:t>• 成为经济高质量发展的重要支撑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 i="1"/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